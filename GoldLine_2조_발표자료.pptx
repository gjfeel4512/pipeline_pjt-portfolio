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1~5분</c:v>
                  </c:pt>
                  <c:pt idx="1">
                    <c:v>5~10분</c:v>
                  </c:pt>
                  <c:pt idx="2">
                    <c:v>10~20분</c:v>
                  </c:pt>
                  <c:pt idx="3">
                    <c:v>20분 이상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17.8</c:v>
                </c:pt>
                <c:pt idx="2">
                  <c:v>29.7</c:v>
                </c:pt>
                <c:pt idx="3">
                  <c:v>49.9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13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822960"/>
            <a:ext cx="2743200" cy="2743200"/>
          </a:xfrm>
          <a:prstGeom prst="ellipse">
            <a:avLst/>
          </a:prstGeom>
          <a:solidFill>
            <a:srgbClr val="B8733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1463040"/>
            <a:ext cx="2377440" cy="2377440"/>
          </a:xfrm>
          <a:prstGeom prst="ellipse">
            <a:avLst/>
          </a:prstGeom>
          <a:solidFill>
            <a:srgbClr val="8B95A1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2286000"/>
            <a:ext cx="2011680" cy="2011680"/>
          </a:xfrm>
          <a:prstGeom prst="ellipse">
            <a:avLst/>
          </a:prstGeom>
          <a:solidFill>
            <a:srgbClr val="D4A017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2조 · GOLDLINE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크리에이터 인사이트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파이프라인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완전 서버리스 ELT 파이프라인으로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· 자동차 · 영화 카테고리 크리에이터에게 데이터 기반 인사이트를 제공합니다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91640" y="1984248"/>
            <a:ext cx="0" cy="621792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18928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 · 핵심 지표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691640" y="2898648"/>
            <a:ext cx="0" cy="621792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8072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&amp; 데이터 흐름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Bronze → Silver → Gold → Serve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03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9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691640" y="3813048"/>
            <a:ext cx="0" cy="621792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65960" y="37216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원본 · Silver 정제 스키마 · Gold 분석 테이블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691640" y="4727448"/>
            <a:ext cx="0" cy="621792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65960" y="46360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데이터 기반 6개 탭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532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691640" y="5641848"/>
            <a:ext cx="0" cy="621792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65960" y="55504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구조 &amp; 회고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비용 모델 · 트러블슈팅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프로젝트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GoldLine인가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크리에이터·신규 진입자는 “언제, 어떤 길이로, 어떤 유형의 영상을 올려야 하는가”를 감과 경험에 의존해 판단한다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Studio는 내 채널 데이터만 보여줄 뿐, 카테고리 전체의 업로드 타이밍·길이·구독자 규모별 성과 벤치마크는 제공하지 않는다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API 응답만으로는 “지금 이 영상이 카테고리 평균보다 잘 되고 있는지” 판단할 기준이 없다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GoldLine의 접근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API로 4개 카테고리(게임 · 자동차 · 영화·애니 · 인물·블로그)를 지속 수집해 1년 치 실측 데이터를 축적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3단계로 정제 · 검증 · 카테고리 중앙값 대비 벤치마킹까지 자동 계산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크리에이터가 바로 쓸 수 있는 대시보드(트렌드 · 업로드 가이드 · 채널 추천)로 4시간마다 자동 갱신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프로젝트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지표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수집·적재된 데이터 기준 (2026-09-03)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8745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2402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535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대상 카테고리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· 자동차·차량 · 영화·애니메이션 · 인물·블로그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965960"/>
            <a:ext cx="82296" cy="1874520"/>
          </a:xfrm>
          <a:prstGeom prst="rect">
            <a:avLst/>
          </a:prstGeom>
          <a:solidFill>
            <a:srgbClr val="B873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2402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87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22,930건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9535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3개 카테고리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영상 스냅샷 누적 건수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965960"/>
            <a:ext cx="82296" cy="1874520"/>
          </a:xfrm>
          <a:prstGeom prst="rect">
            <a:avLst/>
          </a:prstGeom>
          <a:solidFill>
            <a:srgbClr val="8B95A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73952" y="22402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8B9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1년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9535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백필 수집 기간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2025-09 ~ 2026-09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1965960"/>
            <a:ext cx="26243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51976" y="1965960"/>
            <a:ext cx="82296" cy="1874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44584" y="2240280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4시간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244584" y="29535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갱신 주기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Bronze→Silver→Gold→Dashboard 완전 순차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927080" cy="1874520"/>
          </a:xfrm>
          <a:prstGeom prst="roundRect">
            <a:avLst>
              <a:gd name="adj" fmla="val 439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· 완전 자동화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Fargate · RDS 상시 서버 없이 Lambda + Step Functions + Athena만으로 파이프라인 전체를 구성 — 유휴 상태 비용이 사실상 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아키텍처 한눈에 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 → Analyze → Serve, 5단계 ELT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77481" cy="324612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1977481" cy="82296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350008"/>
            <a:ext cx="1703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62072"/>
            <a:ext cx="1703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447288"/>
            <a:ext cx="170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3840480"/>
            <a:ext cx="1684873" cy="0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977640"/>
            <a:ext cx="170316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증분 수집 +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1회성 백필 수집기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99273" y="3566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73593" y="2148840"/>
            <a:ext cx="1977481" cy="324612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73593" y="2148840"/>
            <a:ext cx="1977481" cy="82296"/>
          </a:xfrm>
          <a:prstGeom prst="rect">
            <a:avLst/>
          </a:prstGeom>
          <a:solidFill>
            <a:srgbClr val="B873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19897" y="2350008"/>
            <a:ext cx="1703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019897" y="2862072"/>
            <a:ext cx="1703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Bronze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019897" y="3447288"/>
            <a:ext cx="170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원본 보존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9897" y="3840480"/>
            <a:ext cx="1684873" cy="0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9897" y="3977640"/>
            <a:ext cx="170316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Firehose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파티셔닝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32787" y="3566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07107" y="2148840"/>
            <a:ext cx="1977481" cy="324612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07107" y="2148840"/>
            <a:ext cx="1977481" cy="82296"/>
          </a:xfrm>
          <a:prstGeom prst="rect">
            <a:avLst/>
          </a:prstGeom>
          <a:solidFill>
            <a:srgbClr val="8B95A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53411" y="2350008"/>
            <a:ext cx="1703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5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253411" y="2862072"/>
            <a:ext cx="1703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· Silver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253411" y="3447288"/>
            <a:ext cx="170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· 검증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3411" y="3840480"/>
            <a:ext cx="1684873" cy="0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53411" y="3977640"/>
            <a:ext cx="170316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Map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변환 · 오염 분리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066300" y="3566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340620" y="2148840"/>
            <a:ext cx="1977481" cy="324612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40620" y="2148840"/>
            <a:ext cx="1977481" cy="8229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86924" y="2350008"/>
            <a:ext cx="1703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486924" y="2862072"/>
            <a:ext cx="1703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· Gold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486924" y="3447288"/>
            <a:ext cx="170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집계 · 벤치마크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86924" y="3840480"/>
            <a:ext cx="1684873" cy="0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86924" y="3977640"/>
            <a:ext cx="170316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 Glue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중앙값 계산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9814" y="35661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574134" y="2148840"/>
            <a:ext cx="1977481" cy="324612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574134" y="2148840"/>
            <a:ext cx="1977481" cy="82296"/>
          </a:xfrm>
          <a:prstGeom prst="rect">
            <a:avLst/>
          </a:prstGeom>
          <a:solidFill>
            <a:srgbClr val="6B4E9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20438" y="2350008"/>
            <a:ext cx="17031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9720438" y="2862072"/>
            <a:ext cx="17031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9720438" y="3447288"/>
            <a:ext cx="17031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720438" y="3840480"/>
            <a:ext cx="1684873" cy="0"/>
          </a:xfrm>
          <a:prstGeom prst="line">
            <a:avLst/>
          </a:prstGeom>
          <a:noFill/>
          <a:ln w="12700">
            <a:solidFill>
              <a:srgbClr val="E5E4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20438" y="3977640"/>
            <a:ext cx="170316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호스팅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— 수집 계층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v3, mostPopular 대신 search.list로 survivorship bias 회피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증분 수집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youtube_api_daily.py — search.list 기반, EventBridge 4시간 주기(cron 30 */4)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체크포인트(searched_until + known_videos)로 증분 발견 + 재스냅샷, 게시 30일 초과 시 자동 제거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남은 실행시간이 부족하면 지금까지 모은 것만 저장하고 종료 — 다음 트리거가 이어받음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24028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258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1회성 백필 수집기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346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youtube_api_collector.py — 로컬 실행, 1년 치(2025-09~2026-08) search.list 백필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bronze_merged 54개 파일 · 약 50MB, 4개 카테고리 전체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다중 순환 + 체크포인트로 일일 쿼터(10,000 유닛) 안에서 안전하게 분할 수집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— Bronze 계층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Kinesis Data Firehose 동적 파티셔닝으로 S3에 원본 그대로 보존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Firehose 처리 파이프라인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292608" cy="29260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레코드 수신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/ 백필 스크립트가 push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0704" y="2916936"/>
            <a:ext cx="0" cy="329184"/>
          </a:xfrm>
          <a:prstGeom prst="line">
            <a:avLst/>
          </a:prstGeom>
          <a:noFill/>
          <a:ln w="15240">
            <a:solidFill>
              <a:srgbClr val="E5E4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3246120"/>
            <a:ext cx="292608" cy="29260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MetadataExtraction (JQ)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year / month / day 추출 (KST 기준)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0704" y="3557016"/>
            <a:ext cx="0" cy="329184"/>
          </a:xfrm>
          <a:prstGeom prst="line">
            <a:avLst/>
          </a:prstGeom>
          <a:noFill/>
          <a:ln w="15240">
            <a:solidFill>
              <a:srgbClr val="E5E4E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14400" y="3886200"/>
            <a:ext cx="292608" cy="29260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AppendDelimiterToRecord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레코드 사이 개행(\n) 삽입 — JSONL 파싱 보장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0704" y="4197096"/>
            <a:ext cx="0" cy="329184"/>
          </a:xfrm>
          <a:prstGeom prst="line">
            <a:avLst/>
          </a:prstGeom>
          <a:noFill/>
          <a:ln w="15240">
            <a:solidFill>
              <a:srgbClr val="E5E4E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14400" y="4526280"/>
            <a:ext cx="292608" cy="29260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파티셔닝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84048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키: category=/year=/month=/day=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60704" y="4837176"/>
            <a:ext cx="0" cy="329184"/>
          </a:xfrm>
          <a:prstGeom prst="line">
            <a:avLst/>
          </a:prstGeom>
          <a:noFill/>
          <a:ln w="15240">
            <a:solidFill>
              <a:srgbClr val="E5E4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14400" y="5166360"/>
            <a:ext cx="292608" cy="29260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압축 적재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 · 64MB 버퍼링 후 S3 PUT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69480" y="1965960"/>
            <a:ext cx="4251960" cy="41148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5438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구조인가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265176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 전 원본을 그대로 보존 — 이후 Silver 로직이 바뀌어도 재처리 가능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KST 파티션 키는 !{partitionKeyFromQuery:...} 사용 — !{timestamp:...}는 UTC 고정이라 실제 발행 시각과 어긋남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AppendDelimiterToRecord 누락 시 여러 레코드가 개행 없이 붙어 JSONL 파싱이 깨짐(실제 발견 · 수정한 이슈)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— Silver 계층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Map 상태로 병렬 정제 + 검증 실패 레코드 분리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흐름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stepfn_list_bronze_search.py — 오늘(KST) 파티션의 Bronze 오브젝트 키 목록 조회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stepfn_transform_search_silver.py — Map 상태가 키 단위로 병렬 호출, 정제 · 파생필드 계산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is_valid=false 레코드는 youtube/silver-rejected/ 로 분리 저장 — Gold 계산에서 제외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S3 JSONL + Glue Data Catalog(silver_youtube 테이블)로 스키마 등록 — Athena가 바로 조회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파생 필드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duration_seconds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62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→ 초 단위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27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video_type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4838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기반 shorts / short_form / long_form 분류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849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published_at_kst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105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→ KST 변환, 요일 · 시간대 버킷 계산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471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is_valid / invalid_reason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727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필드 누락, 음수 조회수 등 검증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093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video_age_days · views_per_day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수집시각 - 게시시각 기반 파생 지표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— Gold 계층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없이 Athena + Glue로 서버리스 집계 — 카테고리 중앙값 대비 벤치마킹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56616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gold_category_benchmark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주간 중앙값(조회수/일, 참여율), 최적 업로드시간·길이·영상유형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965960"/>
            <a:ext cx="356616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gold_upload_strategy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700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구독자군 × 영상유형 × 길이 × 요일 × 시간대별 성과 랭킹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1965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1965960"/>
            <a:ext cx="356616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38744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gold_new_creator_guide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38744" y="26700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신규/초기 성장 채널 세그먼트 대상 업로드 전략 가이드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927080" cy="1874520"/>
          </a:xfrm>
          <a:prstGeom prst="roundRect">
            <a:avLst>
              <a:gd name="adj" fmla="val 439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멱등적 계산 방식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Athena는 UPSERT가 없어, 매 실행마다 이번 analysis_week 파티션을 S3 DeleteObject로 purge한 뒤 INSERT INTO ... SELECT로 재계산 — Postgres의 ON CONFLICT DO UPDATE와 동일한 효과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대신 선택한 이유: 별도 VPC가 없는 프로젝트 구조상 RDS 도입 시 네트워킹 복잡도가 커서 기각, 기존 Glue 카탈로그(Postgres export용 read-replica로 이미 존재)를 재사용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— 대시보드 배포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S3(비공개) + CloudFront(OAC) 서버리스 정적 호스팅, API 서버 없음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53796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7432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17520" y="274320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17520" y="2743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(OAC)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432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274320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2743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(비공개 버킷)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79476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자산(index.html, js/, css/) — 기본 TTL 1일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/mock/*.json 대시보드 데이터 — TTL 120초, 파이프라인이 4시간마다 덮어씀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S3는 CloudFront(OAC)를 통해서만 GetObject 허용 — 버킷 자체는 완전 비공개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페이지 앱: 403/404 모두 index.html로 리라이트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4114800" cy="41148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8096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갱신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65176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refresh_dashboard Lambda가 Gold 집계 직후(오케스트레이터 4번째 단계) 자동 실행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Athena에서 Silver/Gold 직접 조회 → mock/*.json 생성 → S3 업로드 → CloudFront invalidation까지 한 번에 처리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수동으로 스크립트를 돌릴 필요 없이 4시간마다 최신 데이터 반영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아키텍처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완전 순차 자동화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마스터 상태머신 — 앞 단계가 끝나야만 다음 단계가 시작된다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· cron(30 */4 * * ? *) — 4시간마다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2A3350"/>
          </a:solidFill>
          <a:ln w="12700">
            <a:solidFill>
              <a:srgbClr val="3A44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A6FA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2724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BronzeCollect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11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동기 호출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977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daily_search_collector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65576" y="24231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2A3350"/>
          </a:solidFill>
          <a:ln w="12700">
            <a:solidFill>
              <a:srgbClr val="3A44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B95A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6674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12724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SilverTransform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3611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.sync:2 중첩 실행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66744" y="3977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search_to_silver 상태머신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25896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91072" y="24231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2A3350"/>
          </a:solidFill>
          <a:ln w="12700">
            <a:solidFill>
              <a:srgbClr val="3A44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12724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GoldCompute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611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동기 호출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977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gold_compute_athena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851392" y="32918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16568" y="242316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2A3350"/>
          </a:solidFill>
          <a:ln w="12700">
            <a:solidFill>
              <a:srgbClr val="3A44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17736" y="2651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E9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17736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17736" y="312724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DashboardRefresh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317736" y="3611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동기 호출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17736" y="39776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refresh_dashboard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5029200"/>
            <a:ext cx="10927080" cy="1188720"/>
          </a:xfrm>
          <a:prstGeom prst="roundRect">
            <a:avLst>
              <a:gd name="adj" fmla="val 6923"/>
            </a:avLst>
          </a:prstGeom>
          <a:solidFill>
            <a:srgbClr val="2A3350"/>
          </a:solidFill>
          <a:ln w="12700">
            <a:solidFill>
              <a:srgbClr val="3A44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19379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단계든 실패하면 뒤 단계는 아예 시작되지 않고 전체가 FAILED로 종료(의도적으로 Catch 미설정) — CloudWatch 알람(ExecutionsFailed)이 4단계 전체를 커버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데이터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— 원본 로그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응답을 가공 없이 그대로 보존 (문자열 타입 그대로)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126480" cy="41148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category_name / category_id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511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"게임" / "20"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95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video_id / title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"9ZC68wZ7-z8" / "설마... 한국판 디아블로?"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930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view_count / like_count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5818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"1139" / "22"  (문자열)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96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616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"PT8M3S"  (ISO 8601)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001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channel_id / channel_name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6519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"UCwnxaxB..." / "라미월드"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03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published_at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68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C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"2026-09-01T05:09:13Z"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965960"/>
            <a:ext cx="4526280" cy="4114800"/>
          </a:xfrm>
          <a:prstGeom prst="roundRect">
            <a:avLst>
              <a:gd name="adj" fmla="val 2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606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필드를 검증 · 변환 없이 그대로 저장 — 타입도 API가 준 그대로(view_count가 문자열)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search.list + videos.list + channels.list 3개 리소스를 조합해 재구성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/ matched_tags 등 원본 배열도 그대로 보존해 이후 재분류(리뷰어 후보 탐지 등)에 재활용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데이터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— 정제 스키마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기준 스타 스키마 (Glue 카탈로그도 동일 구조)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dim_channel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87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channel_id · subscriber_count · channel_thumbnail_url ...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9884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dim_category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98848" y="2487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· category_name_ko (4개 카테고리)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538728" cy="1234440"/>
          </a:xfrm>
          <a:prstGeom prst="roundRect">
            <a:avLst>
              <a:gd name="adj" fmla="val 666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5644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2487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· day_of_week_ko · is_weekend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27080" cy="2697480"/>
          </a:xfrm>
          <a:prstGeom prst="roundRect">
            <a:avLst>
              <a:gd name="adj" fmla="val 3051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1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fact_video_snapshot  ·  영상 1건 × 수집일 1건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video_id / channel_id / category_id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published_at_kst / published_hour_kst / published_day_of_week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duration_seconds / video_type / definition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view_count / like_count / comment_count / subscriber_count_at_collection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389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collected_at_utc / collected_date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is_valid / invalid_reason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(video_id, collected_date) — 같은 영상이 재수집될 때마다 새 스냅샷 행 적재, 시계열 비교 가능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데이터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분석 테이블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중앙값 대비 벤치마킹 결과 (Presto/Trino SQL로 Athena에서 계산)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27080" cy="502920"/>
          </a:xfrm>
          <a:prstGeom prst="roundRect">
            <a:avLst>
              <a:gd name="adj" fmla="val 16364"/>
            </a:avLst>
          </a:prstGeom>
          <a:solidFill>
            <a:srgbClr val="1B213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테이블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103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기준(Grain)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03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산출값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060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gold_category_benchmark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606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analysis_week, category_id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606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median_views_per_day, median_like_rate, best_upload_time_bucket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927080" cy="1051560"/>
          </a:xfrm>
          <a:prstGeom prst="rect">
            <a:avLst/>
          </a:prstGeom>
          <a:solidFill>
            <a:srgbClr val="F4F3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657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gold_upload_strategy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657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subscriber_segment, video_type, duration_bucket, 요일×시간대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6576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strategy_rank, is_recommended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gold_new_creator_guide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709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target_creator_segment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4709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recommended_time/day/duration, guide_message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6172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폐지된 지표: gold_video_rank_trend(트렌딩 순위 추적) — 팀 결정으로 랭크 추적 자체를 중단하며 스키마까지 전체 제거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대시보드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튜브가이드 대시보드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SPA · 6개 탭 · 4시간마다 실제 파이프라인 데이터로 자동 갱신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뜨는 영상 · 이번 주 신규 진입 · 스테디셀러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채널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내 성장 참고 채널 3곳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1014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131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가이드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9900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요일×시간대 히트맵, 최적 업로드 타이밍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133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트렌드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956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길이 분포, 구독자 규모별 성과, 1년 리플레이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133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리뷰어 후보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956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카테고리로 오분류된 채널 재발굴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0144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1312" y="4133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11312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심화분석(데모)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4956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영향도, 토픽 트렌드 등 실험적 분석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대시보드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 — 실제 라이브 데이터 재현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2026.09.03 배포 사이트에서 추출한 실제 텍스트/수치 기반 재현 화면 (스크린샷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18105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요즘 뜨는 영상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트렌딩 · 8개 중 2개 예시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25112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A6F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44568" y="18105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신규 진입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21031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7일 이내 · 8개 중 2개 예시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10144" y="195681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6B4E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81051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스테디셀러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10144" y="21031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꾸준한 조회 · 8개 중 1개 예시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25511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426464" y="253288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여름방학 특집 ...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1363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혜안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33741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4주 전 · 구독자 309.0만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361188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223.0만 · 좋아요 4.9만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86384" y="43799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D4A01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436168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은신의 달인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49651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이도원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52029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2개월 전 · 구독자 52.1만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544068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117.9만 · 구독자 대비 2.9배 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25112" y="24231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71416" y="25511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4A6FA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71416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111496" y="253288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KR84 Retro랜덤게임 ...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71416" y="31363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KR84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471416" y="33741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1일 전 · 구독자 0.4만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471416" y="361188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12.3만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25112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71416" y="43799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4A6FA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471416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111496" y="436168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260830 지렁이게임 ...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471416" y="49651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멘파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52029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2일 전 · 구독자 12.8만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471416" y="544068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42.2만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10144" y="24231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56448" y="25511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6B4E9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156448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796528" y="253288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이 게임 하려고 하모니카 사 옴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156448" y="31363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몽땅초이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56448" y="3374136"/>
            <a:ext cx="3227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10개월 전 · 구독자 2.3만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156448" y="3611880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223.8만 · 구독자 대비 168.7배 ↑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10144" y="42519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193024" y="4434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3종(게임·자동차·영화) 각각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8+8+8개씩 동일한 구조로 제공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193024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4시간마다 Gold 계층 재계산 → 자동 갱신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대시보드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카테고리 트렌드 &amp; 업로드 가이드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카테고리 실측 지표 (Gold 계층 집계 기준)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81회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980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 평균 조회수 (views/day)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53712" y="20848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7980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참여율 (like+comment/view)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1920240"/>
            <a:ext cx="352044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38744" y="20848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19:51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38744" y="27980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영상 길이 (mm:ss)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길이 분포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22960" y="3840480"/>
          <a:ext cx="51206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309360" y="3383280"/>
            <a:ext cx="5239512" cy="2743200"/>
          </a:xfrm>
          <a:prstGeom prst="roundRect">
            <a:avLst>
              <a:gd name="adj" fmla="val 3000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9224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규모별 조회수 비율 (카테고리 평균=1.0배)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977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구독자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955280" y="4023360"/>
            <a:ext cx="2057400" cy="182880"/>
          </a:xfrm>
          <a:prstGeom prst="roundRect">
            <a:avLst>
              <a:gd name="adj" fmla="val 20000"/>
            </a:avLst>
          </a:prstGeom>
          <a:solidFill>
            <a:srgbClr val="8B95A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78440" y="3977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0.9배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4434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중형 구독자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4480560"/>
            <a:ext cx="2286000" cy="182880"/>
          </a:xfrm>
          <a:prstGeom prst="roundRect">
            <a:avLst>
              <a:gd name="adj" fmla="val 20000"/>
            </a:avLst>
          </a:prstGeom>
          <a:solidFill>
            <a:srgbClr val="4A6FA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378440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1.0배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892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구독자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55280" y="49377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6B4E9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378440" y="4892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0.6배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92240" y="5486400"/>
            <a:ext cx="4846320" cy="502920"/>
          </a:xfrm>
          <a:prstGeom prst="roundRect">
            <a:avLst>
              <a:gd name="adj" fmla="val 16364"/>
            </a:avLst>
          </a:prstGeom>
          <a:solidFill>
            <a:srgbClr val="1B2138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7512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최적 타이밍 — 수요일 새벽 (히트맵 지수 482.5, 전체 최댓값)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대시보드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리뷰어 후보 &amp; 추천 채널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카테고리 실측 데이터 — 오분류 재발굴 및 성장 참고 채널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리뷰어 후보 — 다른 카테고리로 오분류된 채널 재발굴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12848"/>
          <a:ext cx="58521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감지 건수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1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게임리뷰하느라 바쁜남자 | 바쁘남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지호해봄 최지호 유용한 지호랩 JihoLab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하이욤쇼핑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딜라(고)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끝재미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포헥스◇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7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3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리뷰형 콘텐츠 특유의 문구 패턴이 반복 감지되어, 원 카테고리 재검토 후보로 표시됩니다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채널 — 카테고리 내 성장 참고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0" y="2212848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22592" y="2432304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22592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24.4만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3447288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022592" y="3666744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22592" y="36667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소소한잼 Sosohanjam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111.0만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4681728"/>
            <a:ext cx="47548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022592" y="4901184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022592" y="4901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4864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김동희 세계관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818120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75.7만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비용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비용 구조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청구 금액이 아닌 서비스별 과금 구조 설명 — 서버 상시 운영 비용이 없는 구조가 핵심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횟수 + 실행시간 기준 종량제 · 서버 상시 비용 없음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67128"/>
            <a:ext cx="365760" cy="365760"/>
          </a:xfrm>
          <a:prstGeom prst="ellipse">
            <a:avLst/>
          </a:prstGeom>
          <a:solidFill>
            <a:srgbClr val="2A33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(Standard)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전이(state transition) 건당 과금 · 4단계 구성이라 매우 낮음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1014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2167128"/>
            <a:ext cx="365760" cy="3657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1312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3017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스캔한 데이터양(TB) 기준 종량제 · 파이프라인 내 주요 변동비 요소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133088"/>
            <a:ext cx="365760" cy="365760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983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용량 기준 · Bronze~Gold 전체 수십~수백MB 수준으로 미미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25112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133088"/>
            <a:ext cx="365760" cy="365760"/>
          </a:xfrm>
          <a:prstGeom prst="ellipse">
            <a:avLst/>
          </a:prstGeom>
          <a:solidFill>
            <a:srgbClr val="6B4E9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983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수 + 데이터 전송량 기준 · PriceClass_200(리전 한정)으로 억제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10144" y="393192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11312" y="4133088"/>
            <a:ext cx="365760" cy="365760"/>
          </a:xfrm>
          <a:prstGeom prst="ellipse">
            <a:avLst/>
          </a:prstGeom>
          <a:solidFill>
            <a:srgbClr val="8B95A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11312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· Glue Catalog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4983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 트리거 / 카탈로그 메타데이터, 대부분 무료 티어 내 수준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비용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최적화 설계 결정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선택 단계에서부터 상시 비용을 배제하는 방향으로 설계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39512" cy="1783080"/>
          </a:xfrm>
          <a:prstGeom prst="roundRect">
            <a:avLst>
              <a:gd name="adj" fmla="val 4615"/>
            </a:avLst>
          </a:prstGeom>
          <a:solidFill>
            <a:srgbClr val="2A33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A6F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9008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Fargate 배제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55848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서버리스(Lambda + Step Functions)로 구성 — 상시 기동되는 서버 비용 자체가 없음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239512" cy="1783080"/>
          </a:xfrm>
          <a:prstGeom prst="roundRect">
            <a:avLst>
              <a:gd name="adj" fmla="val 4615"/>
            </a:avLst>
          </a:prstGeom>
          <a:solidFill>
            <a:srgbClr val="2A3350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4A01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9008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대신 Athena + Glue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355848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VPC가 없는 프로젝트 구조상 RDS 도입 시 네트워킹 복잡도·고정비 부담 → 기각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39512" cy="1783080"/>
          </a:xfrm>
          <a:prstGeom prst="roundRect">
            <a:avLst>
              <a:gd name="adj" fmla="val 4615"/>
            </a:avLst>
          </a:prstGeom>
          <a:solidFill>
            <a:srgbClr val="2A3350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873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5604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Standard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321808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전이 단가가 매우 낮아 4시간 주기 배치 오케스트레이션에 적합, Express 불필요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239512" cy="1783080"/>
          </a:xfrm>
          <a:prstGeom prst="roundRect">
            <a:avLst>
              <a:gd name="adj" fmla="val 4615"/>
            </a:avLst>
          </a:prstGeom>
          <a:solidFill>
            <a:srgbClr val="2A33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343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6B4E9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5604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Partition Projection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321808"/>
            <a:ext cx="4782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파티션 메타데이터 관리 비용과 Athena 스캔 범위를 함께 최소화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회고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신뢰성 &amp; 트러블슈팅 회고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구축 과정에서 실제로 발생·해결한 이슈들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75104"/>
            <a:ext cx="201168" cy="20116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6" name="Shape 4"/>
          <p:cNvSpPr/>
          <p:nvPr/>
        </p:nvSpPr>
        <p:spPr>
          <a:xfrm>
            <a:off x="740664" y="2176272"/>
            <a:ext cx="0" cy="457200"/>
          </a:xfrm>
          <a:prstGeom prst="line">
            <a:avLst/>
          </a:prstGeom>
          <a:noFill/>
          <a:ln w="19050">
            <a:solidFill>
              <a:srgbClr val="E5E4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BIGINT/INT 타입 불일치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계산 단계에서 CAST(... AS INTEGER)로 명시적 형변환 적용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201168" cy="20116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" y="2889504"/>
            <a:ext cx="0" cy="457200"/>
          </a:xfrm>
          <a:prstGeom prst="line">
            <a:avLst/>
          </a:prstGeom>
          <a:noFill/>
          <a:ln w="19050">
            <a:solidFill>
              <a:srgbClr val="E5E4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5877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/ WITH 절 순서 오류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877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Trino는 INSERT INTO table WITH ... SELECT 순서를 요구함을 확인 후 수정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201168" cy="20116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" y="3602736"/>
            <a:ext cx="0" cy="457200"/>
          </a:xfrm>
          <a:prstGeom prst="line">
            <a:avLst/>
          </a:prstGeom>
          <a:noFill/>
          <a:ln w="19050">
            <a:solidFill>
              <a:srgbClr val="E5E4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30098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스키마 컬럼 누락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3009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video_age_days 등 9개 컬럼이 카탈로그에 없어 Export 시 100% 필터링 → 스키마에 추가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01168" cy="20116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" y="4315968"/>
            <a:ext cx="0" cy="457200"/>
          </a:xfrm>
          <a:prstGeom prst="line">
            <a:avLst/>
          </a:prstGeom>
          <a:noFill/>
          <a:ln w="19050">
            <a:solidFill>
              <a:srgbClr val="E5E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014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channel_video_count 컬럼명 불일치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01421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채널 풀이 비어 보이는 원인 — 컬럼명 정정으로 해결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28032"/>
            <a:ext cx="201168" cy="201168"/>
          </a:xfrm>
          <a:prstGeom prst="ellipse">
            <a:avLst/>
          </a:prstGeom>
          <a:solidFill>
            <a:srgbClr val="B873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664" y="5029200"/>
            <a:ext cx="0" cy="457200"/>
          </a:xfrm>
          <a:prstGeom prst="line">
            <a:avLst/>
          </a:prstGeom>
          <a:noFill/>
          <a:ln w="19050">
            <a:solidFill>
              <a:srgbClr val="E5E4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7274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Terraform 상태(state) 불일치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72744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테이블 · Lambda 리소스를 terraform import로 재정합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541264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440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트렌딩 최근 영상 편향 (이번 세션)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5440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진입과 트렌딩의 집계 구간을 분리해 recency bias 제거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다음 단계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남은 과제 &amp; 다음 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확인이 필요한 항목과 팀 차원의 다음 로드맵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4F3F0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필요 (운영 반영)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스케줄(cron(30 */4 * * ? *))의 실전 자동 실행 여부 최종 확인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DashboardRefresh 단계가 통합된 오케스트레이터 정의를 팀 전체 terraform apply로 반영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Terraform state 정합성 — 신규 팀원 환경에서도 import 없이 apply되는지 점검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239512" cy="3977640"/>
          </a:xfrm>
          <a:prstGeom prst="roundRect">
            <a:avLst>
              <a:gd name="adj" fmla="val 2069"/>
            </a:avLst>
          </a:prstGeom>
          <a:solidFill>
            <a:srgbClr val="1B2138"/>
          </a:solidFill>
          <a:ln/>
          <a:effectLst>
            <a:outerShdw sx="100000" sy="100000" kx="0" ky="0" algn="bl" rotWithShape="0" blurRad="76200" dist="25400" dir="5400000">
              <a:srgbClr val="1B2138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148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1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로드맵 (제안)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603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리뷰어 후보 채널을 실제 카테고리 재분류에 반영해 데이터 정확도 개선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스캔 비용/사용량 모니터링 알람 추가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D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 4: Pandas/Polars/Spark 기반 ETL 확장 및 추가 도메인(금융·스마트팩토리 등) 검토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GoldLine · 2조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822960"/>
            <a:ext cx="2743200" cy="2743200"/>
          </a:xfrm>
          <a:prstGeom prst="ellipse">
            <a:avLst/>
          </a:prstGeom>
          <a:solidFill>
            <a:srgbClr val="B8733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1463040"/>
            <a:ext cx="2377440" cy="2377440"/>
          </a:xfrm>
          <a:prstGeom prst="ellipse">
            <a:avLst/>
          </a:prstGeom>
          <a:solidFill>
            <a:srgbClr val="8B95A1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286000"/>
            <a:ext cx="2011680" cy="2011680"/>
          </a:xfrm>
          <a:prstGeom prst="ellipse">
            <a:avLst/>
          </a:prstGeom>
          <a:solidFill>
            <a:srgbClr val="D4A017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2조 · GOLDLINE — YouTube 크리에이터 인사이트 데이터 파이프라인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2026-09-03T14:42:34Z</dcterms:created>
  <dcterms:modified xsi:type="dcterms:W3CDTF">2026-09-03T14:42:34Z</dcterms:modified>
</cp:coreProperties>
</file>